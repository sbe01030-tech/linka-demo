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18"/>
    <p:restoredTop sz="94700"/>
  </p:normalViewPr>
  <p:slideViewPr>
    <p:cSldViewPr snapToGrid="0" snapToObjects="1">
      <p:cViewPr varScale="1">
        <p:scale>
          <a:sx n="162" d="100"/>
          <a:sy n="162" d="100"/>
        </p:scale>
        <p:origin x="200" y="3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>
                <a:solidFill>
                  <a:srgbClr val="00C853"/>
                </a:solidFill>
                <a:latin typeface="Apple SD Gothic Neo"/>
              </a:rPr>
              <a:t>BACKEND SPEC  ·  v0.</a:t>
            </a:r>
            <a:r>
              <a:rPr lang="en-US" altLang="ko-KR" sz="1200" b="1" dirty="0">
                <a:solidFill>
                  <a:srgbClr val="00C853"/>
                </a:solidFill>
                <a:latin typeface="Apple SD Gothic Neo"/>
              </a:rPr>
              <a:t>1</a:t>
            </a:r>
            <a:endParaRPr sz="1200" b="1" dirty="0">
              <a:solidFill>
                <a:srgbClr val="00C853"/>
              </a:solidFill>
              <a:latin typeface="Apple SD Gothic Ne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200" b="1">
                <a:solidFill>
                  <a:srgbClr val="101418"/>
                </a:solidFill>
                <a:latin typeface="Apple SD Gothic Neo"/>
              </a:rPr>
              <a:t>Linka 백엔드 기획안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57600"/>
            <a:ext cx="10515600" cy="2194560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6126480"/>
            <a:ext cx="54864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dirty="0">
                <a:solidFill>
                  <a:srgbClr val="55606C"/>
                </a:solidFill>
                <a:latin typeface="Apple SD Gothic Neo"/>
              </a:rPr>
              <a:t>2026-0</a:t>
            </a:r>
            <a:r>
              <a:rPr lang="en-US" altLang="ko-KR" sz="1100" b="0" dirty="0">
                <a:solidFill>
                  <a:srgbClr val="55606C"/>
                </a:solidFill>
                <a:latin typeface="Apple SD Gothic Neo"/>
              </a:rPr>
              <a:t>6</a:t>
            </a:r>
            <a:r>
              <a:rPr sz="1100" b="0" dirty="0">
                <a:solidFill>
                  <a:srgbClr val="55606C"/>
                </a:solidFill>
                <a:latin typeface="Apple SD Gothic Neo"/>
              </a:rPr>
              <a:t>-</a:t>
            </a:r>
            <a:r>
              <a:rPr lang="en-US" altLang="ko-KR" sz="1100" b="0" dirty="0">
                <a:solidFill>
                  <a:srgbClr val="55606C"/>
                </a:solidFill>
                <a:latin typeface="Apple SD Gothic Neo"/>
              </a:rPr>
              <a:t>04</a:t>
            </a:r>
            <a:endParaRPr sz="1100" b="0" dirty="0">
              <a:solidFill>
                <a:srgbClr val="55606C"/>
              </a:solidFill>
              <a:latin typeface="Apple SD Gothic Ne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381" y="460510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dirty="0">
                <a:solidFill>
                  <a:srgbClr val="55606C"/>
                </a:solidFill>
                <a:latin typeface="Apple SD Gothic Neo"/>
              </a:rPr>
              <a:t>React Native(Expo) </a:t>
            </a:r>
            <a:r>
              <a:rPr sz="1500" b="0" dirty="0" err="1">
                <a:solidFill>
                  <a:srgbClr val="55606C"/>
                </a:solidFill>
                <a:latin typeface="Apple SD Gothic Neo"/>
              </a:rPr>
              <a:t>기반</a:t>
            </a:r>
            <a:r>
              <a:rPr sz="1500" b="0" dirty="0">
                <a:solidFill>
                  <a:srgbClr val="55606C"/>
                </a:solidFill>
                <a:latin typeface="Apple SD Gothic Neo"/>
              </a:rPr>
              <a:t> </a:t>
            </a:r>
            <a:r>
              <a:rPr sz="1500" b="0" dirty="0" err="1">
                <a:solidFill>
                  <a:srgbClr val="55606C"/>
                </a:solidFill>
                <a:latin typeface="Apple SD Gothic Neo"/>
              </a:rPr>
              <a:t>인도네시아</a:t>
            </a:r>
            <a:r>
              <a:rPr sz="1500" b="0" dirty="0">
                <a:solidFill>
                  <a:srgbClr val="55606C"/>
                </a:solidFill>
                <a:latin typeface="Apple SD Gothic Neo"/>
              </a:rPr>
              <a:t> </a:t>
            </a:r>
            <a:r>
              <a:rPr sz="1500" b="0" dirty="0" err="1">
                <a:solidFill>
                  <a:srgbClr val="55606C"/>
                </a:solidFill>
                <a:latin typeface="Apple SD Gothic Neo"/>
              </a:rPr>
              <a:t>타겟</a:t>
            </a:r>
            <a:r>
              <a:rPr sz="1500" b="0" dirty="0">
                <a:solidFill>
                  <a:srgbClr val="55606C"/>
                </a:solidFill>
                <a:latin typeface="Apple SD Gothic Neo"/>
              </a:rPr>
              <a:t> </a:t>
            </a:r>
            <a:r>
              <a:rPr sz="1500" b="0" dirty="0" err="1">
                <a:solidFill>
                  <a:srgbClr val="55606C"/>
                </a:solidFill>
                <a:latin typeface="Apple SD Gothic Neo"/>
              </a:rPr>
              <a:t>가사·운전·심부름</a:t>
            </a:r>
            <a:r>
              <a:rPr sz="1500" b="0" dirty="0">
                <a:solidFill>
                  <a:srgbClr val="55606C"/>
                </a:solidFill>
                <a:latin typeface="Apple SD Gothic Neo"/>
              </a:rPr>
              <a:t> </a:t>
            </a:r>
            <a:r>
              <a:rPr sz="1500" b="0" dirty="0" err="1">
                <a:solidFill>
                  <a:srgbClr val="55606C"/>
                </a:solidFill>
                <a:latin typeface="Apple SD Gothic Neo"/>
              </a:rPr>
              <a:t>중개</a:t>
            </a:r>
            <a:r>
              <a:rPr sz="1500" b="0" dirty="0">
                <a:solidFill>
                  <a:srgbClr val="55606C"/>
                </a:solidFill>
                <a:latin typeface="Apple SD Gothic Neo"/>
              </a:rPr>
              <a:t> </a:t>
            </a:r>
            <a:r>
              <a:rPr sz="1500" b="0" dirty="0" err="1">
                <a:solidFill>
                  <a:srgbClr val="55606C"/>
                </a:solidFill>
                <a:latin typeface="Apple SD Gothic Neo"/>
              </a:rPr>
              <a:t>앱</a:t>
            </a:r>
            <a:endParaRPr sz="1500" b="0" dirty="0">
              <a:solidFill>
                <a:srgbClr val="55606C"/>
              </a:solidFill>
              <a:latin typeface="Apple SD Gothic Ne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01  · 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01418"/>
                </a:solidFill>
                <a:latin typeface="Apple SD Gothic Neo"/>
              </a:rPr>
              <a:t>전체 화면 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C853"/>
                </a:solidFill>
                <a:latin typeface="Apple SD Gothic Neo"/>
              </a:rPr>
              <a:t>인증 (Auth)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697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01  스플래시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02  환영 화면 (역할 선택)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03  로그인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04  회원가입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05  약관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55448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C853"/>
                </a:solidFill>
                <a:latin typeface="Apple SD Gothic Neo"/>
              </a:rPr>
              <a:t>고객 (Customer)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965960"/>
            <a:ext cx="2697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10  홈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11  지도 (파트너 탐색) ← 우선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12  헬퍼 검색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13  헬퍼 상세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14  예약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15  주문 내역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16  리뷰 작성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17  프로필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18  알림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C853"/>
                </a:solidFill>
                <a:latin typeface="Apple SD Gothic Neo"/>
              </a:rPr>
              <a:t>헬퍼 / 드라이버 / 심부름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65960"/>
            <a:ext cx="2697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20  헬퍼 홈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21  헬퍼 주문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22  헬퍼 프로필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30  드라이버 게시판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31  드라이버 상세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40  심부름 게시판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41  심부름 등록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42  심부름 상세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55448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C853"/>
                </a:solidFill>
                <a:latin typeface="Apple SD Gothic Neo"/>
              </a:rPr>
              <a:t>채팅 / 공통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965960"/>
            <a:ext cx="2697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50  채팅 목록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51  채팅 상세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60  프로필 수정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61  도움말 / FAQ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※ 커뮤니티 탭은 본 기획안에서 제외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v0.2  ·  Map 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02  ·  COMMON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01418"/>
                </a:solidFill>
                <a:latin typeface="Apple SD Gothic Neo"/>
              </a:rPr>
              <a:t>공통 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40680" cy="2331720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01418"/>
                </a:solidFill>
                <a:latin typeface="Apple SD Gothic Neo"/>
              </a:rPr>
              <a:t>사용자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892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customer  · 서비스 요청자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helper      · 가사도우미 (ART)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driver       · 운전자 (대리/일일)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errand      · 심부름꾼 (예정)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→ 멀티 역할 허용 여부 정책 결정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554480"/>
            <a:ext cx="5440680" cy="2331720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3952" y="17830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01418"/>
                </a:solidFill>
                <a:latin typeface="Apple SD Gothic Neo"/>
              </a:rPr>
              <a:t>다국어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94560"/>
            <a:ext cx="4892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지원: id (기본) · en · ko · zh · ja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사용자 입력은 원문 저장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카테고리·시스템 메시지만 번역 키 보유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40680" cy="2331720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25196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01418"/>
                </a:solidFill>
                <a:latin typeface="Apple SD Gothic Neo"/>
              </a:rPr>
              <a:t>통화 / 지역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63440"/>
            <a:ext cx="4892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통화: IDR (Rp) · 정수 단위 저장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기본: 자카르타 (Kemang / Kebayoran Baru)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좌표: WGS84 (lat/lng)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4023360"/>
            <a:ext cx="5440680" cy="2331720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425196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01418"/>
                </a:solidFill>
                <a:latin typeface="Apple SD Gothic Neo"/>
              </a:rPr>
              <a:t>인증 / 미디어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663440"/>
            <a:ext cx="4892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이메일 또는 전화번호 (정책 필요)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JWT 기반 세션 + Refresh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약관 동의 이력 보관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사진·첨부: Pre-signed URL 권장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v0.2  ·  Map screen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01418"/>
                </a:solidFill>
                <a:latin typeface="Apple SD Gothic Neo"/>
              </a:rPr>
              <a:t>지도 화면 —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1/12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  <a:latin typeface="Apple SD Gothic Neo"/>
              </a:rPr>
              <a:t>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486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01418"/>
                </a:solidFill>
                <a:latin typeface="Apple SD Gothic Neo"/>
              </a:rPr>
              <a:t>지도 위에서 주변 헬퍼·드라이버를 시각적으로 탐색하고, 필터·정렬을 통해 원하는 파트너를 찾아 상세 진입한다.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  <a:latin typeface="Apple SD Gothic Neo"/>
              </a:rPr>
              <a:t>진입 경로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54864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하단 탭바 → "지도(Map)"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홈 화면 → 서비스 카드 / "지도에서 보기"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라우트 파라미터:  expanded?: boolean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라우트 파라미터:  serviceType?: regular | onetime | live-in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492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Apple SD Gothic Neo"/>
              </a:rPr>
              <a:t>핵심 지표 (백엔드 모니터링 권장)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5486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검색 응답 시간 P95 &lt; 400ms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마커→상세 전환율 / 상세→예약 전환율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검색 결과 0건 비율 (필터 UX 개선 신호)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554480"/>
            <a:ext cx="5212080" cy="4846320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17373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01418"/>
                </a:solidFill>
                <a:latin typeface="Apple SD Gothic Neo"/>
              </a:rPr>
              <a:t>두 종류의 파트너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22402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</a:rPr>
              <a:t>HELPER  ·  헬퍼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06040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가사도우미 (ART)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스킬: Beberes / Masak / Cuci / Setrika / Deep Cleaning / Masak Sehat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정기 / 단기 / 상주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검증·경력·평점 기반 매칭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34340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</a:rPr>
              <a:t>DRIVER  ·  드라이버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709160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고객 차량 운전 (대리·일일·공항·통근·이벤트·시외)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차종: Sedan / SUV / MPV / Van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면허 등급: SIM A · SIM A Umum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driverServices: designated/daily/airport/hourly/commute/intercity/event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v0.2  ·  Map screen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01418"/>
                </a:solidFill>
                <a:latin typeface="Apple SD Gothic Neo"/>
              </a:rPr>
              <a:t>UI 구성 (영역별)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4/12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30168" cy="2395728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상단 검색 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3172968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파트너 이름 / 위치 키워드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위치 키워드 → /geocode 호출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디바운스 300ms · 최소 2자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417320"/>
            <a:ext cx="3630168" cy="2395728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60020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지도 (Google Maps)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65960"/>
            <a:ext cx="3172968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커스텀 스타일 (밝은 회색 톤)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POI / 대중교통 라벨 숨김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현재 위치 표시 (권한 시)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마커: 사진+이름+평점 · 헬퍼/드라이버 색상 구분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줌 ± · 내 위치 버튼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1417320"/>
            <a:ext cx="3630168" cy="2395728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0184" y="160020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바텀시트 — Peek (240pt)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4" y="1965960"/>
            <a:ext cx="3172968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헤더: "n명의 파트너" 카운트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필터 칩 9종 가로 스크롤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스토리 리스트: 사진 가로 스크롤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77640"/>
            <a:ext cx="3630168" cy="2395728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2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바텀시트 — Expanded (72%)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26280"/>
            <a:ext cx="3172968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정렬 드롭다운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파트너 카드 FlatList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탭 → 헬퍼/드라이버 상세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5112" y="3977640"/>
            <a:ext cx="3630168" cy="2395728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3712" y="416052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선택 미리보기 시트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4526280"/>
            <a:ext cx="3172968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사진·이름·평점·시급·위치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스킬·경력·검증 배지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"상세 보기" CTA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4" y="3977640"/>
            <a:ext cx="3630168" cy="2395728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0184" y="416052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필터 모달 4종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4526280"/>
            <a:ext cx="3172968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활동 카테고리 (다중)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서비스 유형 (단일)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헬퍼 조건 (검증+경력)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정렬 (평점/후기/가격)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v0.2  ·  Map screen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7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01418"/>
                </a:solidFill>
                <a:latin typeface="Apple SD Gothic Neo"/>
              </a:rPr>
              <a:t>사용자 액션 → 백엔드 매핑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5/12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377440" cy="329184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490472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액션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417320"/>
            <a:ext cx="3200400" cy="329184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35808" y="1490472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트리거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17320"/>
            <a:ext cx="5513832" cy="329184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36208" y="1490472"/>
            <a:ext cx="533095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백엔드 호출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46504"/>
            <a:ext cx="2377440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181965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진입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746504"/>
            <a:ext cx="3200400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35808" y="1819656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탭 전환 / 라우트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746504"/>
            <a:ext cx="5513832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6208" y="1819656"/>
            <a:ext cx="533095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SF Mono"/>
              </a:rPr>
              <a:t>GET /partners (bbox 기반)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075688"/>
            <a:ext cx="2377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2148840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위치 권한 허용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2075688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35808" y="2148840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최초 진입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075688"/>
            <a:ext cx="55138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36208" y="2148840"/>
            <a:ext cx="533095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SF Mono"/>
              </a:rPr>
              <a:t>GET /reverse-geocode (현재 위치 → 동네)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404872"/>
            <a:ext cx="2377440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2478024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지도 이동·줌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2404872"/>
            <a:ext cx="3200400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35808" y="2478024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팬·핀치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404872"/>
            <a:ext cx="5513832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36208" y="2478024"/>
            <a:ext cx="533095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SF Mono"/>
              </a:rPr>
              <a:t>GET /partners (debounce 400ms, 새 bbox)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734056"/>
            <a:ext cx="2377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" y="280720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검색어 입력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2734056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035808" y="280720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TextInput 디바운스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2734056"/>
            <a:ext cx="55138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36208" y="2807208"/>
            <a:ext cx="533095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SF Mono"/>
              </a:rPr>
              <a:t>GET /partners?keyword=…  +  /geocode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063240"/>
            <a:ext cx="2377440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" y="3136392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마커 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3063240"/>
            <a:ext cx="3200400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035808" y="3136392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Marker onPress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3063240"/>
            <a:ext cx="5513832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6208" y="3136392"/>
            <a:ext cx="533095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SF Mono"/>
              </a:rPr>
              <a:t>GET /partners/{id}  +  POST /events (marker_click)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392424"/>
            <a:ext cx="2377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368" y="346557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필터 적용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26080" y="3392424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035808" y="3465576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모달 "적용"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3392424"/>
            <a:ext cx="55138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36208" y="3465576"/>
            <a:ext cx="533095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SF Mono"/>
              </a:rPr>
              <a:t>GET /partners (필터 파라미터 전체)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3721608"/>
            <a:ext cx="2377440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8368" y="3794760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정렬 변경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26080" y="3721608"/>
            <a:ext cx="3200400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035808" y="3794760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정렬 모달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26480" y="3721608"/>
            <a:ext cx="5513832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36208" y="3794760"/>
            <a:ext cx="533095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SF Mono"/>
              </a:rPr>
              <a:t>GET /partners?sortBy=…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050792"/>
            <a:ext cx="2377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8368" y="4123944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리스트 페이징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26080" y="4050792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035808" y="4123944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FlatList onEndReached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26480" y="4050792"/>
            <a:ext cx="55138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236208" y="4123944"/>
            <a:ext cx="533095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SF Mono"/>
              </a:rPr>
              <a:t>GET /partners?cursor=…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4379976"/>
            <a:ext cx="2377440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8368" y="445312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상세 진입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26080" y="4379976"/>
            <a:ext cx="3200400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035808" y="445312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"상세 보기" CTA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26480" y="4379976"/>
            <a:ext cx="5513832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236208" y="4453128"/>
            <a:ext cx="533095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SF Mono"/>
              </a:rPr>
              <a:t>GET /partners/{id}/availability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4709160"/>
            <a:ext cx="2377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58368" y="4782312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즐겨찾기 토글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926080" y="4709160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035808" y="4782312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하트 버튼 (상세시트)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26480" y="4709160"/>
            <a:ext cx="55138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236208" y="4782312"/>
            <a:ext cx="533095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SF Mono"/>
              </a:rPr>
              <a:t>POST/DELETE /favorites/partners/{id}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5038344"/>
            <a:ext cx="2377440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58368" y="511149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신고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926080" y="5038344"/>
            <a:ext cx="3200400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035808" y="5111496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메뉴 → 신고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26480" y="5038344"/>
            <a:ext cx="5513832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236208" y="5111496"/>
            <a:ext cx="533095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SF Mono"/>
              </a:rPr>
              <a:t>POST /reports/partners/{id}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" y="5367528"/>
            <a:ext cx="2377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58368" y="5440680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차단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926080" y="5367528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035808" y="5440680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메뉴 → 차단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26480" y="5367528"/>
            <a:ext cx="55138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236208" y="5440680"/>
            <a:ext cx="533095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SF Mono"/>
              </a:rPr>
              <a:t>POST /blocks/partners/{id}  → 검색 결과 필터링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v0.2  ·  Map screen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8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01418"/>
                </a:solidFill>
                <a:latin typeface="Apple SD Gothic Neo"/>
              </a:rPr>
              <a:t>데이터 모델 — Partner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6/12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606040" cy="196596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94460"/>
            <a:ext cx="244144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필드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371600"/>
            <a:ext cx="3200400" cy="196596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46120" y="1394460"/>
            <a:ext cx="303580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타입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5285232" cy="196596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394460"/>
            <a:ext cx="5120640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설명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568196"/>
            <a:ext cx="260604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591056"/>
            <a:ext cx="244144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1568196"/>
            <a:ext cx="320040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46120" y="1591056"/>
            <a:ext cx="303580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568196"/>
            <a:ext cx="5285232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1591056"/>
            <a:ext cx="5120640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파트너 고유 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764792"/>
            <a:ext cx="260604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1787652"/>
            <a:ext cx="244144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partnerType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1764792"/>
            <a:ext cx="320040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46120" y="1787652"/>
            <a:ext cx="303580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'helper' | 'driver'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1764792"/>
            <a:ext cx="5285232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1787652"/>
            <a:ext cx="5120640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파트너 종류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1961388"/>
            <a:ext cx="260604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1984248"/>
            <a:ext cx="244144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name / firstName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54680" y="1961388"/>
            <a:ext cx="320040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46120" y="1984248"/>
            <a:ext cx="303580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string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1961388"/>
            <a:ext cx="5285232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1984248"/>
            <a:ext cx="5120640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표시명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157984"/>
            <a:ext cx="260604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2180844"/>
            <a:ext cx="244144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photoUrl / photoThumbUrl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54680" y="2157984"/>
            <a:ext cx="320040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46120" y="2180844"/>
            <a:ext cx="303580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string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2157984"/>
            <a:ext cx="5285232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46520" y="2180844"/>
            <a:ext cx="5120640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원본 / 썸네일 분리 권장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2354580"/>
            <a:ext cx="260604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2377440"/>
            <a:ext cx="244144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location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54680" y="2354580"/>
            <a:ext cx="320040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46120" y="2377440"/>
            <a:ext cx="303580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string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2354580"/>
            <a:ext cx="5285232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46520" y="2377440"/>
            <a:ext cx="5120640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표시용 동네명 (다국어 정책 필요)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2551176"/>
            <a:ext cx="260604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" y="2574036"/>
            <a:ext cx="244144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areaId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54680" y="2551176"/>
            <a:ext cx="320040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46120" y="2574036"/>
            <a:ext cx="303580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string (FK → Area)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2551176"/>
            <a:ext cx="5285232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46520" y="2574036"/>
            <a:ext cx="5120640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활성 서비스 지역 ID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2747772"/>
            <a:ext cx="260604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" y="2770632"/>
            <a:ext cx="244144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lat, lng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54680" y="2747772"/>
            <a:ext cx="320040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246120" y="2770632"/>
            <a:ext cx="303580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number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2747772"/>
            <a:ext cx="5285232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46520" y="2770632"/>
            <a:ext cx="5120640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위치 좌표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2944368"/>
            <a:ext cx="260604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0080" y="2967228"/>
            <a:ext cx="244144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distanceMeters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54680" y="2944368"/>
            <a:ext cx="320040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246120" y="2967228"/>
            <a:ext cx="303580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number  (응답 시 계산)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2944368"/>
            <a:ext cx="5285232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46520" y="2967228"/>
            <a:ext cx="5120640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사용자 위치 기준 — 거리 정렬용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3140964"/>
            <a:ext cx="260604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0080" y="3163824"/>
            <a:ext cx="244144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rating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154680" y="3140964"/>
            <a:ext cx="320040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246120" y="3163824"/>
            <a:ext cx="303580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number (0~5)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55080" y="3140964"/>
            <a:ext cx="5285232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446520" y="3163824"/>
            <a:ext cx="5120640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dirty="0" err="1">
                <a:solidFill>
                  <a:srgbClr val="101418"/>
                </a:solidFill>
                <a:latin typeface="Apple SD Gothic Neo"/>
              </a:rPr>
              <a:t>평균</a:t>
            </a:r>
            <a:r>
              <a:rPr sz="9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900" b="0" dirty="0" err="1">
                <a:solidFill>
                  <a:srgbClr val="101418"/>
                </a:solidFill>
                <a:latin typeface="Apple SD Gothic Neo"/>
              </a:rPr>
              <a:t>평점</a:t>
            </a:r>
            <a:r>
              <a:rPr sz="900" b="0" dirty="0">
                <a:solidFill>
                  <a:srgbClr val="101418"/>
                </a:solidFill>
                <a:latin typeface="Apple SD Gothic Neo"/>
              </a:rPr>
              <a:t> (</a:t>
            </a:r>
            <a:r>
              <a:rPr sz="900" b="0" dirty="0" err="1">
                <a:solidFill>
                  <a:srgbClr val="101418"/>
                </a:solidFill>
                <a:latin typeface="Apple SD Gothic Neo"/>
              </a:rPr>
              <a:t>집계</a:t>
            </a:r>
            <a:r>
              <a:rPr sz="900" b="0" dirty="0">
                <a:solidFill>
                  <a:srgbClr val="101418"/>
                </a:solidFill>
                <a:latin typeface="Apple SD Gothic Neo"/>
              </a:rPr>
              <a:t>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3337560"/>
            <a:ext cx="260604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40080" y="3360420"/>
            <a:ext cx="244144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reviewCount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154680" y="3337560"/>
            <a:ext cx="320040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246120" y="3360420"/>
            <a:ext cx="303580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number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55080" y="3337560"/>
            <a:ext cx="5285232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46520" y="3360420"/>
            <a:ext cx="5120640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후기 수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3534156"/>
            <a:ext cx="260604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40080" y="3557016"/>
            <a:ext cx="244144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totalJobs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154680" y="3534156"/>
            <a:ext cx="320040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246120" y="3557016"/>
            <a:ext cx="303580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number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55080" y="3534156"/>
            <a:ext cx="5285232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446520" y="3557016"/>
            <a:ext cx="5120640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누적 작업 건수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" y="3730752"/>
            <a:ext cx="260604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40080" y="3753612"/>
            <a:ext cx="244144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pricePerHour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154680" y="3730752"/>
            <a:ext cx="320040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246120" y="3753612"/>
            <a:ext cx="303580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number (IDR)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55080" y="3730752"/>
            <a:ext cx="5285232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446520" y="3753612"/>
            <a:ext cx="5120640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시급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8640" y="3927348"/>
            <a:ext cx="260604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40080" y="3950208"/>
            <a:ext cx="244144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priceMin / priceMax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154680" y="3927348"/>
            <a:ext cx="320040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246120" y="3950208"/>
            <a:ext cx="303580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number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355080" y="3927348"/>
            <a:ext cx="5285232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446520" y="3950208"/>
            <a:ext cx="5120640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지역·시간대별 변동 가격 (정책에 따라)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8640" y="4123944"/>
            <a:ext cx="260604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40080" y="4146804"/>
            <a:ext cx="244144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isAvailable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154680" y="4123944"/>
            <a:ext cx="320040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246120" y="4146804"/>
            <a:ext cx="303580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boolean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55080" y="4123944"/>
            <a:ext cx="5285232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446520" y="4146804"/>
            <a:ext cx="5120640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즉시 가능 (스케줄/토글 정책)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8640" y="4320540"/>
            <a:ext cx="260604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40080" y="4343400"/>
            <a:ext cx="244144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availabilityUntil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154680" y="4320540"/>
            <a:ext cx="320040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246120" y="4343400"/>
            <a:ext cx="303580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ISO datetime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355080" y="4320540"/>
            <a:ext cx="5285232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446520" y="4343400"/>
            <a:ext cx="5120640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현재 가용 만료 시점 (실시간 신호)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48640" y="4517136"/>
            <a:ext cx="260604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40080" y="4539996"/>
            <a:ext cx="244144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isVerified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154680" y="4517136"/>
            <a:ext cx="320040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246120" y="4539996"/>
            <a:ext cx="303580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boolean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55080" y="4517136"/>
            <a:ext cx="5285232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446520" y="4539996"/>
            <a:ext cx="5120640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신원·서류 검증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48640" y="4713732"/>
            <a:ext cx="260604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40080" y="4736592"/>
            <a:ext cx="244144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verificationLevel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154680" y="4713732"/>
            <a:ext cx="320040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3246120" y="4736592"/>
            <a:ext cx="303580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'basic' | 'identity' | 'background'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355080" y="4713732"/>
            <a:ext cx="5285232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6446520" y="4736592"/>
            <a:ext cx="5120640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검증 단계 세분화 권장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48640" y="4910328"/>
            <a:ext cx="260604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40080" y="4933188"/>
            <a:ext cx="244144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experienceYears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154680" y="4910328"/>
            <a:ext cx="320040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3246120" y="4933188"/>
            <a:ext cx="303580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number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355080" y="4910328"/>
            <a:ext cx="5285232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446520" y="4933188"/>
            <a:ext cx="5120640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경력 연수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48640" y="5106924"/>
            <a:ext cx="260604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640080" y="5129784"/>
            <a:ext cx="244144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serviceFrequency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154680" y="5106924"/>
            <a:ext cx="320040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246120" y="5129784"/>
            <a:ext cx="303580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'regular'|'special'|'both'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355080" y="5106924"/>
            <a:ext cx="5285232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6446520" y="5129784"/>
            <a:ext cx="5120640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정기/단기/둘다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48640" y="5303520"/>
            <a:ext cx="260604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40080" y="5326380"/>
            <a:ext cx="244144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skills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154680" y="5303520"/>
            <a:ext cx="320040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3246120" y="5326380"/>
            <a:ext cx="303580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string[]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355080" y="5303520"/>
            <a:ext cx="5285232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6446520" y="5326380"/>
            <a:ext cx="5120640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Beberes / Masak / Cuci / Setrika / …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48640" y="5500116"/>
            <a:ext cx="260604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40080" y="5522976"/>
            <a:ext cx="244144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driverServices?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154680" y="5500116"/>
            <a:ext cx="320040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3246120" y="5522976"/>
            <a:ext cx="303580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string[]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355080" y="5500116"/>
            <a:ext cx="5285232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6446520" y="5522976"/>
            <a:ext cx="5120640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designated/daily/airport/hourly/…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48640" y="5696712"/>
            <a:ext cx="260604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640080" y="5719572"/>
            <a:ext cx="244144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vehicleTypes?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154680" y="5696712"/>
            <a:ext cx="320040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246120" y="5719572"/>
            <a:ext cx="303580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string[]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355080" y="5696712"/>
            <a:ext cx="5285232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6446520" y="5719572"/>
            <a:ext cx="5120640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Sedan/SUV/MPV/Van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48640" y="5893308"/>
            <a:ext cx="260604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640080" y="5916168"/>
            <a:ext cx="244144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licenseClass?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154680" y="5893308"/>
            <a:ext cx="320040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3246120" y="5916168"/>
            <a:ext cx="303580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string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355080" y="5893308"/>
            <a:ext cx="5285232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6446520" y="5916168"/>
            <a:ext cx="5120640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SIM A · SIM A Umum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48640" y="6089904"/>
            <a:ext cx="260604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640080" y="6112764"/>
            <a:ext cx="244144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isFavorited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154680" y="6089904"/>
            <a:ext cx="320040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246120" y="6112764"/>
            <a:ext cx="303580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boolean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55080" y="6089904"/>
            <a:ext cx="5285232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6446520" y="6112764"/>
            <a:ext cx="5120640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현재 사용자 기준 즐겨찾기 여부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48640" y="6286500"/>
            <a:ext cx="260604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640080" y="6309360"/>
            <a:ext cx="244144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isBlocked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154680" y="6286500"/>
            <a:ext cx="320040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3246120" y="6309360"/>
            <a:ext cx="3035808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boolean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355080" y="6286500"/>
            <a:ext cx="5285232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6446520" y="6309360"/>
            <a:ext cx="5120640" cy="196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차단 시 검색에서 자동 제외 (서버측)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v0.2  ·  Map screen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9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01418"/>
                </a:solidFill>
                <a:latin typeface="Apple SD Gothic Neo"/>
              </a:rPr>
              <a:t>데이터 모델 — 보조 엔티티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7/12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30168" cy="2395728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Activity (활동 카테고리)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3172968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id : string  (cleaning, cooking, …)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label : { id, en, ko, zh, ja }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icon · color · bg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items[] : ActivityItem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417320"/>
            <a:ext cx="3630168" cy="2395728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60020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ActivityItem (세부 항목)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65960"/>
            <a:ext cx="3172968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id · label(다국어) · skill(매핑)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예: { id: 'floor', skill: 'Beberes' }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→ 검색 필터의 selectedActivities 와 매핑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1417320"/>
            <a:ext cx="3630168" cy="2395728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0184" y="160020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Skill (스킬)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4" y="1965960"/>
            <a:ext cx="3172968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code : string  (Beberes, Masak, …)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label : { id, en, ko, … }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category : 'cleaning'|'cooking'|…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검색 필터·파트너 프로필 공용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77640"/>
            <a:ext cx="3630168" cy="2395728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2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Area (활성 서비스 지역)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26280"/>
            <a:ext cx="3172968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id · name (다국어) · centerLat · centerLng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polygon (선택, 경계)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isActive : boolean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→ "인근 지역" 추천·검증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5112" y="3977640"/>
            <a:ext cx="3630168" cy="2395728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3712" y="416052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Favorite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4526280"/>
            <a:ext cx="3172968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userId · partnerId · createdAt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유니크 인덱스 (userId, partnerId)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4" y="3977640"/>
            <a:ext cx="3630168" cy="2395728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0184" y="416052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Report / Block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4526280"/>
            <a:ext cx="3172968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userId · partnerId · reason · createdAt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Block은 검색에서 서버측 자동 제외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Report는 운영자 큐에 누적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v0.2  ·  Map screen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10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01418"/>
                </a:solidFill>
                <a:latin typeface="Apple SD Gothic Neo"/>
              </a:rPr>
              <a:t>API #1 — 검색 / 상세 / 가용 시간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8/12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6858000" cy="4983480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3232" y="15819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81912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/api/v1/partners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20240"/>
            <a:ext cx="65288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파트너 검색 (메인)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94560"/>
            <a:ext cx="6528816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bbox=swLat,swLng,neLat,neLng    또는    lat / lng / radius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partnerType: helper | driver | all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serviceType: regular | onetime | live-in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availableOnly · verifiedOnly  (boolean)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minExperience: 0 | 1 | 3 | 5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skills[]   ←  활동 → skill 매핑 결과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keyword    ←  이름 또는 위치 키워드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sortBy: rating | reviews | price_low | price_high | distance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userLat / userLng  ←  거리 정렬·distanceMeters 계산용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cursor / limit  (페이지네이션, cursor 권장)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응답: { items[], nextCursor, total }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  · items[i] = Partner (마커+카드 공용 필드)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08192"/>
            <a:ext cx="652881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dirty="0" err="1">
                <a:solidFill>
                  <a:srgbClr val="EF4444"/>
                </a:solidFill>
                <a:latin typeface="Apple SD Gothic Neo"/>
              </a:rPr>
              <a:t>성능</a:t>
            </a:r>
            <a:r>
              <a:rPr sz="800" b="0" dirty="0">
                <a:solidFill>
                  <a:srgbClr val="EF4444"/>
                </a:solidFill>
                <a:latin typeface="Apple SD Gothic Neo"/>
              </a:rPr>
              <a:t>: </a:t>
            </a:r>
            <a:r>
              <a:rPr sz="800" b="0" dirty="0" err="1">
                <a:solidFill>
                  <a:srgbClr val="EF4444"/>
                </a:solidFill>
                <a:latin typeface="Apple SD Gothic Neo"/>
              </a:rPr>
              <a:t>마커</a:t>
            </a:r>
            <a:r>
              <a:rPr sz="800" b="0" dirty="0">
                <a:solidFill>
                  <a:srgbClr val="EF4444"/>
                </a:solidFill>
                <a:latin typeface="Apple SD Gothic Neo"/>
              </a:rPr>
              <a:t> </a:t>
            </a:r>
            <a:r>
              <a:rPr sz="800" b="0" dirty="0" err="1">
                <a:solidFill>
                  <a:srgbClr val="EF4444"/>
                </a:solidFill>
                <a:latin typeface="Apple SD Gothic Neo"/>
              </a:rPr>
              <a:t>응답은</a:t>
            </a:r>
            <a:r>
              <a:rPr sz="800" b="0" dirty="0">
                <a:solidFill>
                  <a:srgbClr val="EF4444"/>
                </a:solidFill>
                <a:latin typeface="Apple SD Gothic Neo"/>
              </a:rPr>
              <a:t> </a:t>
            </a:r>
            <a:r>
              <a:rPr sz="800" b="0" dirty="0" err="1">
                <a:solidFill>
                  <a:srgbClr val="EF4444"/>
                </a:solidFill>
                <a:latin typeface="Apple SD Gothic Neo"/>
              </a:rPr>
              <a:t>가벼워야</a:t>
            </a:r>
            <a:r>
              <a:rPr sz="800" b="0" dirty="0">
                <a:solidFill>
                  <a:srgbClr val="EF4444"/>
                </a:solidFill>
                <a:latin typeface="Apple SD Gothic Neo"/>
              </a:rPr>
              <a:t> </a:t>
            </a:r>
            <a:r>
              <a:rPr sz="800" b="0" dirty="0" err="1">
                <a:solidFill>
                  <a:srgbClr val="EF4444"/>
                </a:solidFill>
                <a:latin typeface="Apple SD Gothic Neo"/>
              </a:rPr>
              <a:t>함</a:t>
            </a:r>
            <a:r>
              <a:rPr sz="800" b="0" dirty="0">
                <a:solidFill>
                  <a:srgbClr val="EF4444"/>
                </a:solidFill>
                <a:latin typeface="Apple SD Gothic Neo"/>
              </a:rPr>
              <a:t>. </a:t>
            </a:r>
            <a:r>
              <a:rPr sz="800" b="0" dirty="0" err="1">
                <a:solidFill>
                  <a:srgbClr val="EF4444"/>
                </a:solidFill>
                <a:latin typeface="Apple SD Gothic Neo"/>
              </a:rPr>
              <a:t>매우</a:t>
            </a:r>
            <a:r>
              <a:rPr sz="800" b="0" dirty="0">
                <a:solidFill>
                  <a:srgbClr val="EF4444"/>
                </a:solidFill>
                <a:latin typeface="Apple SD Gothic Neo"/>
              </a:rPr>
              <a:t> </a:t>
            </a:r>
            <a:r>
              <a:rPr sz="800" b="0" dirty="0" err="1">
                <a:solidFill>
                  <a:srgbClr val="EF4444"/>
                </a:solidFill>
                <a:latin typeface="Apple SD Gothic Neo"/>
              </a:rPr>
              <a:t>많을</a:t>
            </a:r>
            <a:r>
              <a:rPr sz="800" b="0" dirty="0">
                <a:solidFill>
                  <a:srgbClr val="EF4444"/>
                </a:solidFill>
                <a:latin typeface="Apple SD Gothic Neo"/>
              </a:rPr>
              <a:t> </a:t>
            </a:r>
            <a:r>
              <a:rPr sz="800" b="0" dirty="0" err="1">
                <a:solidFill>
                  <a:srgbClr val="EF4444"/>
                </a:solidFill>
                <a:latin typeface="Apple SD Gothic Neo"/>
              </a:rPr>
              <a:t>경우</a:t>
            </a:r>
            <a:r>
              <a:rPr sz="800" b="0" dirty="0">
                <a:solidFill>
                  <a:srgbClr val="EF4444"/>
                </a:solidFill>
                <a:latin typeface="Apple SD Gothic Neo"/>
              </a:rPr>
              <a:t> </a:t>
            </a:r>
            <a:r>
              <a:rPr sz="800" b="0" dirty="0" err="1">
                <a:solidFill>
                  <a:srgbClr val="EF4444"/>
                </a:solidFill>
                <a:latin typeface="Apple SD Gothic Neo"/>
              </a:rPr>
              <a:t>마커</a:t>
            </a:r>
            <a:r>
              <a:rPr sz="800" b="0" dirty="0">
                <a:solidFill>
                  <a:srgbClr val="EF4444"/>
                </a:solidFill>
                <a:latin typeface="Apple SD Gothic Neo"/>
              </a:rPr>
              <a:t> </a:t>
            </a:r>
            <a:r>
              <a:rPr sz="800" b="0" dirty="0" err="1">
                <a:solidFill>
                  <a:srgbClr val="EF4444"/>
                </a:solidFill>
                <a:latin typeface="Apple SD Gothic Neo"/>
              </a:rPr>
              <a:t>전용</a:t>
            </a:r>
            <a:r>
              <a:rPr sz="800" b="0" dirty="0">
                <a:solidFill>
                  <a:srgbClr val="EF4444"/>
                </a:solidFill>
                <a:latin typeface="Apple SD Gothic Neo"/>
              </a:rPr>
              <a:t> </a:t>
            </a:r>
            <a:r>
              <a:rPr sz="800" b="0" dirty="0" err="1">
                <a:solidFill>
                  <a:srgbClr val="EF4444"/>
                </a:solidFill>
                <a:latin typeface="Apple SD Gothic Neo"/>
              </a:rPr>
              <a:t>엔드포인트</a:t>
            </a:r>
            <a:r>
              <a:rPr sz="800" b="0" dirty="0">
                <a:solidFill>
                  <a:srgbClr val="EF4444"/>
                </a:solidFill>
                <a:latin typeface="Apple SD Gothic Neo"/>
              </a:rPr>
              <a:t> </a:t>
            </a:r>
            <a:r>
              <a:rPr sz="800" b="0" dirty="0" err="1">
                <a:solidFill>
                  <a:srgbClr val="EF4444"/>
                </a:solidFill>
                <a:latin typeface="Apple SD Gothic Neo"/>
              </a:rPr>
              <a:t>분리</a:t>
            </a:r>
            <a:r>
              <a:rPr sz="800" b="0" dirty="0">
                <a:solidFill>
                  <a:srgbClr val="EF4444"/>
                </a:solidFill>
                <a:latin typeface="Apple SD Gothic Neo"/>
              </a:rPr>
              <a:t> </a:t>
            </a:r>
            <a:r>
              <a:rPr sz="800" b="0" dirty="0" err="1">
                <a:solidFill>
                  <a:srgbClr val="EF4444"/>
                </a:solidFill>
                <a:latin typeface="Apple SD Gothic Neo"/>
              </a:rPr>
              <a:t>검토</a:t>
            </a:r>
            <a:r>
              <a:rPr sz="800" b="0" dirty="0">
                <a:solidFill>
                  <a:srgbClr val="EF4444"/>
                </a:solidFill>
                <a:latin typeface="Apple SD Gothic Neo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417320"/>
            <a:ext cx="4050791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54112" y="15819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581912"/>
            <a:ext cx="2862071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/partners/{id}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1920240"/>
            <a:ext cx="3721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단일 파트너 상세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2194560"/>
            <a:ext cx="3721607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미리보기 + 상세 화면 공용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추가 필드: bio · workingHours · reviews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isFavorited · verificationLevel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4005072"/>
            <a:ext cx="4050791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754112" y="4169664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169664"/>
            <a:ext cx="2862071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/partners/{id}/availability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4507992"/>
            <a:ext cx="3721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가용 시간 슬롯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4782312"/>
            <a:ext cx="3721607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from / to  ←  조회 기간 (기본 7일)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응답: 슬롯 배열 [{start, end, isAvailable}]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예약 화면과 공용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v0.2  ·  Map screen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11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01418"/>
                </a:solidFill>
                <a:latin typeface="Apple SD Gothic Neo"/>
              </a:rPr>
              <a:t>API #2 — 마스터 데이터 / 지오코딩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9/12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3232" y="15819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81912"/>
            <a:ext cx="2441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/api/v1/activities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20240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활동 카테고리 마스터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94560"/>
            <a:ext cx="3300984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다국어 라벨 (id/ko/en/zh/ja)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category → item → skill 매핑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ETag/Cache-Control 권장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서버 관리 (앱 업데이트 없이 갱신)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89704" y="15819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1581912"/>
            <a:ext cx="2441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/api/v1/skills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1920240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스킬 마스터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194560"/>
            <a:ext cx="3300984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code · label(다국어) · category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활동 매핑 결과의 단일 출처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141732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66176" y="15819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7424" y="1581912"/>
            <a:ext cx="2441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/api/v1/areas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1920240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활성 서비스 지역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2194560"/>
            <a:ext cx="3300984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id · name(다국어) · center · polygon?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검색·홈 화면 공용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신규 지역 출시 제어용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7764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13232" y="414223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142232"/>
            <a:ext cx="2441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/api/v1/geocode?q=…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480560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지오코딩 (위치 키워드 → 좌표)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754880"/>
            <a:ext cx="3300984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검색창 위치 입력 시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결과: [{name, lat, lng, areaId}]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외부 Provider 위임 가능 (Google/Mapbox)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5112" y="397764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489704" y="414223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952" y="4142232"/>
            <a:ext cx="2441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/reverse-geocode?lat&amp;lng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9704" y="4480560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역지오코딩 (좌표 → 동네명)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9704" y="4754880"/>
            <a:ext cx="3300984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최초 진입 시 "내 동네" 표시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외부 Provider 캐시 권장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1584" y="397764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266176" y="414223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07424" y="4142232"/>
            <a:ext cx="2441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/api/v1/pricing/policy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6" y="4480560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요금 정책 (선택)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6" y="4754880"/>
            <a:ext cx="3300984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지역·시간대별 요금 차등 시 노출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지도 카드의 priceMin/Max 산출 기준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정책 미적용 시 생략 가능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v0.2  ·  Map screen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12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01418"/>
                </a:solidFill>
                <a:latin typeface="Apple SD Gothic Neo"/>
              </a:rPr>
              <a:t>API #3 — 사용자 행동 (즐겨찾기 / 신고 / 차단 / 추천)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10/12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3232" y="15819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81912"/>
            <a:ext cx="2441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/favorites/partners/{id}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20240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즐겨찾기 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94560"/>
            <a:ext cx="3300984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유니크 (userId, partnerId)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Idempotent (이미 있으면 200)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89704" y="15819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1581912"/>
            <a:ext cx="2441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/favorites/partners/{id}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1920240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즐겨찾기 해제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194560"/>
            <a:ext cx="3300984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없으면 204 (관대 처리)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141732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66176" y="15819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7424" y="1581912"/>
            <a:ext cx="2441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/favorites/partners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1920240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내 즐겨찾기 목록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2194560"/>
            <a:ext cx="3300984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프로필 / 홈에서 공용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isFavorited 응답에 사전 반영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7764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13232" y="414223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142232"/>
            <a:ext cx="2441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/reports/partners/{id}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480560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신고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754880"/>
            <a:ext cx="3300984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reason · description · evidenceUrls[]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운영자 큐 적재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5112" y="397764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489704" y="414223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952" y="4142232"/>
            <a:ext cx="2441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/blocks/partners/{id}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9704" y="4480560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차단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9704" y="4754880"/>
            <a:ext cx="3300984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이후 검색·추천에서 서버측 자동 제외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isBlocked 플래그 응답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1584" y="397764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266176" y="414223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07424" y="4142232"/>
            <a:ext cx="2441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/partners/recommended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6" y="4480560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추천 파트너 (개인화)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6" y="4754880"/>
            <a:ext cx="3300984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최근 본 / 즐겨찾기 / 검색 이력 기반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콜드 스타트: 평점·후기·인기 fallback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지도 진입 시 stories에 노출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6" y="6080760"/>
            <a:ext cx="330098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  <a:latin typeface="Apple SD Gothic Neo"/>
              </a:rPr>
              <a:t>추천 모델 위치(서버/외부)와 응답 SLA 합의 필요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v0.2  ·  Map screen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13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01418"/>
                </a:solidFill>
                <a:latin typeface="Apple SD Gothic Neo"/>
              </a:rPr>
              <a:t>API #4 — 실시간 / 검색 이력 /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11/12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3232" y="15819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81912"/>
            <a:ext cx="2441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/partners/recent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20240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최근 본 파트너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94560"/>
            <a:ext cx="3300984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스토리 리스트 / 홈 "이어보기"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서버측 자동 기록 (마커→상세 진입 시)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89704" y="15819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1581912"/>
            <a:ext cx="2441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/search/history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1920240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검색 이력 기록 (선택)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194560"/>
            <a:ext cx="3300984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keyword · filters · resultCount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추천·자동완성 입력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141732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66176" y="15819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7424" y="1581912"/>
            <a:ext cx="2441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/search/suggestions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1920240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자동완성·추천 키워드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2194560"/>
            <a:ext cx="3300984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최근 검색어 + 인기 키워드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검색창 포커스 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7764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13232" y="414223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142232"/>
            <a:ext cx="2441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/ws/partners/availability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480560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실시간 가용 상태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754880"/>
            <a:ext cx="3300984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구독: { bbox, partnerType }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이벤트: { partnerId, isAvailable, availabilityUntil }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대안: 30초 폴링 — GET /partners/availability?ids=…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6080760"/>
            <a:ext cx="330098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  <a:latin typeface="Apple SD Gothic Neo"/>
              </a:rPr>
              <a:t>WS 운영 부담 시 폴링부터. 트래픽·UX 따라 결정.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5112" y="397764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489704" y="414223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POST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0952" y="4142232"/>
            <a:ext cx="2441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/events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9704" y="4480560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분석 이벤트 로깅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4" y="4754880"/>
            <a:ext cx="3300984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type: map_view | marker_click | filter_apply | sort_change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props: { filters, resultCount, partnerId? }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→ 펀널 분석·검색 0건 추적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01584" y="397764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266176" y="414223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POST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07424" y="4142232"/>
            <a:ext cx="2441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/devices/push-token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6" y="4480560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푸시 토큰 (간접)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6" y="4754880"/>
            <a:ext cx="3300984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지도 자체는 직접 사용 X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예약·검증 알림 위해 앱 시작 시 등록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v0.2  ·  Map screen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14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01418"/>
                </a:solidFill>
                <a:latin typeface="Apple SD Gothic Neo"/>
              </a:rPr>
              <a:t>정책 합의 / 엣지 케이스 / 다음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12/12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Apple SD Gothic Neo"/>
              </a:rPr>
              <a:t>백엔드와 합의 필요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dirty="0">
                <a:solidFill>
                  <a:srgbClr val="101418"/>
                </a:solidFill>
                <a:latin typeface="Apple SD Gothic Neo"/>
              </a:rPr>
              <a:t>• 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isAvailable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정의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—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본인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토글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vs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스케줄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기반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vs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둘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다</a:t>
            </a:r>
            <a:endParaRPr sz="1000" b="0" dirty="0">
              <a:solidFill>
                <a:srgbClr val="101418"/>
              </a:solidFill>
              <a:latin typeface="Apple SD Gothic Neo"/>
            </a:endParaRPr>
          </a:p>
          <a:p>
            <a:pPr algn="l">
              <a:lnSpc>
                <a:spcPct val="145000"/>
              </a:lnSpc>
            </a:pPr>
            <a:r>
              <a:rPr sz="1000" b="0" dirty="0">
                <a:solidFill>
                  <a:srgbClr val="101418"/>
                </a:solidFill>
                <a:latin typeface="Apple SD Gothic Neo"/>
              </a:rPr>
              <a:t>• 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위치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갱신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주기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—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등록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거점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vs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실시간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GPS</a:t>
            </a:r>
          </a:p>
          <a:p>
            <a:pPr algn="l">
              <a:lnSpc>
                <a:spcPct val="145000"/>
              </a:lnSpc>
            </a:pPr>
            <a:r>
              <a:rPr sz="1000" b="0" dirty="0">
                <a:solidFill>
                  <a:srgbClr val="101418"/>
                </a:solidFill>
                <a:latin typeface="Apple SD Gothic Neo"/>
              </a:rPr>
              <a:t>• 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거리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정렬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도입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여부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/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거리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계산을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서버에서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할지</a:t>
            </a:r>
            <a:endParaRPr sz="1000" b="0" dirty="0">
              <a:solidFill>
                <a:srgbClr val="101418"/>
              </a:solidFill>
              <a:latin typeface="Apple SD Gothic Neo"/>
            </a:endParaRPr>
          </a:p>
          <a:p>
            <a:pPr algn="l">
              <a:lnSpc>
                <a:spcPct val="145000"/>
              </a:lnSpc>
            </a:pPr>
            <a:r>
              <a:rPr sz="1000" b="0" dirty="0">
                <a:solidFill>
                  <a:srgbClr val="101418"/>
                </a:solidFill>
                <a:latin typeface="Apple SD Gothic Neo"/>
              </a:rPr>
              <a:t>• 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verificationLevel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단계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정의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(basic/identity/background)</a:t>
            </a:r>
          </a:p>
          <a:p>
            <a:pPr algn="l">
              <a:lnSpc>
                <a:spcPct val="145000"/>
              </a:lnSpc>
            </a:pPr>
            <a:r>
              <a:rPr sz="1000" b="0" dirty="0">
                <a:solidFill>
                  <a:srgbClr val="101418"/>
                </a:solidFill>
                <a:latin typeface="Apple SD Gothic Neo"/>
              </a:rPr>
              <a:t>• 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헬퍼·드라이버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통합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검색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vs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분리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(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스키마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갈라지면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분리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)</a:t>
            </a:r>
          </a:p>
          <a:p>
            <a:pPr algn="l">
              <a:lnSpc>
                <a:spcPct val="145000"/>
              </a:lnSpc>
            </a:pPr>
            <a:r>
              <a:rPr sz="1000" b="0" dirty="0">
                <a:solidFill>
                  <a:srgbClr val="101418"/>
                </a:solidFill>
                <a:latin typeface="Apple SD Gothic Neo"/>
              </a:rPr>
              <a:t>• 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활동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→ skill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매핑을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서버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/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클라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어디서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?</a:t>
            </a:r>
          </a:p>
          <a:p>
            <a:pPr algn="l">
              <a:lnSpc>
                <a:spcPct val="145000"/>
              </a:lnSpc>
            </a:pPr>
            <a:r>
              <a:rPr sz="1000" b="0" dirty="0">
                <a:solidFill>
                  <a:srgbClr val="101418"/>
                </a:solidFill>
                <a:latin typeface="Apple SD Gothic Neo"/>
              </a:rPr>
              <a:t>• 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검색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빈도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/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캐싱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/ Rate Limit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정책</a:t>
            </a:r>
            <a:endParaRPr sz="1000" b="0" dirty="0">
              <a:solidFill>
                <a:srgbClr val="101418"/>
              </a:solidFill>
              <a:latin typeface="Apple SD Gothic Neo"/>
            </a:endParaRPr>
          </a:p>
          <a:p>
            <a:pPr algn="l">
              <a:lnSpc>
                <a:spcPct val="145000"/>
              </a:lnSpc>
            </a:pPr>
            <a:r>
              <a:rPr sz="1000" b="0" dirty="0">
                <a:solidFill>
                  <a:srgbClr val="101418"/>
                </a:solidFill>
                <a:latin typeface="Apple SD Gothic Neo"/>
              </a:rPr>
              <a:t>• 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요금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정책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(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단일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시급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vs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지역·시간대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차등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)</a:t>
            </a:r>
          </a:p>
          <a:p>
            <a:pPr algn="l">
              <a:lnSpc>
                <a:spcPct val="145000"/>
              </a:lnSpc>
            </a:pPr>
            <a:r>
              <a:rPr sz="1000" b="0" dirty="0">
                <a:solidFill>
                  <a:srgbClr val="101418"/>
                </a:solidFill>
                <a:latin typeface="Apple SD Gothic Neo"/>
              </a:rPr>
              <a:t>• 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실시간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가용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상태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: WS vs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폴링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(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운영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부담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vs UX)</a:t>
            </a:r>
          </a:p>
          <a:p>
            <a:pPr algn="l">
              <a:lnSpc>
                <a:spcPct val="145000"/>
              </a:lnSpc>
            </a:pPr>
            <a:r>
              <a:rPr sz="1000" b="0" dirty="0">
                <a:solidFill>
                  <a:srgbClr val="101418"/>
                </a:solidFill>
                <a:latin typeface="Apple SD Gothic Neo"/>
              </a:rPr>
              <a:t>• 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차단된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파트너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서버측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자동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제외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보장</a:t>
            </a:r>
            <a:endParaRPr sz="1000" b="0" dirty="0">
              <a:solidFill>
                <a:srgbClr val="101418"/>
              </a:solidFill>
              <a:latin typeface="Apple SD Gothic Neo"/>
            </a:endParaRPr>
          </a:p>
          <a:p>
            <a:pPr algn="l">
              <a:lnSpc>
                <a:spcPct val="145000"/>
              </a:lnSpc>
            </a:pPr>
            <a:r>
              <a:rPr sz="1000" b="0" dirty="0">
                <a:solidFill>
                  <a:srgbClr val="101418"/>
                </a:solidFill>
                <a:latin typeface="Apple SD Gothic Neo"/>
              </a:rPr>
              <a:t>•  location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다국어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표기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(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사용자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lang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기반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변환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?)</a:t>
            </a:r>
          </a:p>
          <a:p>
            <a:pPr algn="l">
              <a:lnSpc>
                <a:spcPct val="145000"/>
              </a:lnSpc>
            </a:pPr>
            <a:r>
              <a:rPr sz="1000" b="0" dirty="0">
                <a:solidFill>
                  <a:srgbClr val="101418"/>
                </a:solidFill>
                <a:latin typeface="Apple SD Gothic Neo"/>
              </a:rPr>
              <a:t>• 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추천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(/partners/recommended)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모델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위치·SLA</a:t>
            </a:r>
            <a:endParaRPr sz="1000" b="0" dirty="0">
              <a:solidFill>
                <a:srgbClr val="101418"/>
              </a:solidFill>
              <a:latin typeface="Apple SD Gothic Ne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  <a:latin typeface="Apple SD Gothic Neo"/>
              </a:rPr>
              <a:t>엣지 케이스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2120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dirty="0">
                <a:solidFill>
                  <a:srgbClr val="101418"/>
                </a:solidFill>
                <a:latin typeface="Apple SD Gothic Neo"/>
              </a:rPr>
              <a:t>• 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위치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권한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거부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→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기본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데모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영역</a:t>
            </a:r>
            <a:endParaRPr sz="1000" b="0" dirty="0">
              <a:solidFill>
                <a:srgbClr val="101418"/>
              </a:solidFill>
              <a:latin typeface="Apple SD Gothic Neo"/>
            </a:endParaRPr>
          </a:p>
          <a:p>
            <a:pPr algn="l">
              <a:lnSpc>
                <a:spcPct val="145000"/>
              </a:lnSpc>
            </a:pPr>
            <a:r>
              <a:rPr sz="1000" b="0" dirty="0">
                <a:solidFill>
                  <a:srgbClr val="101418"/>
                </a:solidFill>
                <a:latin typeface="Apple SD Gothic Neo"/>
              </a:rPr>
              <a:t>• 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결과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0건 →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빈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상태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+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필터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초기화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(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미구현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)</a:t>
            </a:r>
          </a:p>
          <a:p>
            <a:pPr algn="l">
              <a:lnSpc>
                <a:spcPct val="145000"/>
              </a:lnSpc>
            </a:pPr>
            <a:r>
              <a:rPr sz="1000" b="0" dirty="0">
                <a:solidFill>
                  <a:srgbClr val="101418"/>
                </a:solidFill>
                <a:latin typeface="Apple SD Gothic Neo"/>
              </a:rPr>
              <a:t>• 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네트워크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에러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→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재시도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토스트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(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미구현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)</a:t>
            </a:r>
          </a:p>
          <a:p>
            <a:pPr algn="l">
              <a:lnSpc>
                <a:spcPct val="145000"/>
              </a:lnSpc>
            </a:pPr>
            <a:r>
              <a:rPr sz="1000" b="0" dirty="0">
                <a:solidFill>
                  <a:srgbClr val="101418"/>
                </a:solidFill>
                <a:latin typeface="Apple SD Gothic Neo"/>
              </a:rPr>
              <a:t>• 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비검증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파트너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→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배지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미노출</a:t>
            </a:r>
            <a:endParaRPr sz="1000" b="0" dirty="0">
              <a:solidFill>
                <a:srgbClr val="101418"/>
              </a:solidFill>
              <a:latin typeface="Apple SD Gothic Neo"/>
            </a:endParaRPr>
          </a:p>
          <a:p>
            <a:pPr algn="l">
              <a:lnSpc>
                <a:spcPct val="145000"/>
              </a:lnSpc>
            </a:pPr>
            <a:r>
              <a:rPr sz="1000" b="0" dirty="0">
                <a:solidFill>
                  <a:srgbClr val="101418"/>
                </a:solidFill>
                <a:latin typeface="Apple SD Gothic Neo"/>
              </a:rPr>
              <a:t>• 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즉시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불가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→ "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예약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불가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"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표기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, CTA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비활성</a:t>
            </a:r>
            <a:endParaRPr sz="1000" b="0" dirty="0">
              <a:solidFill>
                <a:srgbClr val="101418"/>
              </a:solidFill>
              <a:latin typeface="Apple SD Gothic Neo"/>
            </a:endParaRPr>
          </a:p>
          <a:p>
            <a:pPr algn="l">
              <a:lnSpc>
                <a:spcPct val="145000"/>
              </a:lnSpc>
            </a:pPr>
            <a:r>
              <a:rPr sz="1000" b="0" dirty="0">
                <a:solidFill>
                  <a:srgbClr val="101418"/>
                </a:solidFill>
                <a:latin typeface="Apple SD Gothic Neo"/>
              </a:rPr>
              <a:t>• 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마커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100+ →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클러스터링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검토</a:t>
            </a:r>
            <a:endParaRPr sz="1000" b="0" dirty="0">
              <a:solidFill>
                <a:srgbClr val="101418"/>
              </a:solidFill>
              <a:latin typeface="Apple SD Gothic Neo"/>
            </a:endParaRPr>
          </a:p>
          <a:p>
            <a:pPr algn="l">
              <a:lnSpc>
                <a:spcPct val="145000"/>
              </a:lnSpc>
            </a:pPr>
            <a:r>
              <a:rPr sz="1000" b="0" dirty="0">
                <a:solidFill>
                  <a:srgbClr val="101418"/>
                </a:solidFill>
                <a:latin typeface="Apple SD Gothic Neo"/>
              </a:rPr>
              <a:t>• 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서비스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미진입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지역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→ "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인근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활성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지역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안내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"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컴포넌트</a:t>
            </a:r>
            <a:endParaRPr sz="1000" b="0" dirty="0">
              <a:solidFill>
                <a:srgbClr val="101418"/>
              </a:solidFill>
              <a:latin typeface="Apple SD Gothic Neo"/>
            </a:endParaRPr>
          </a:p>
          <a:p>
            <a:pPr algn="l">
              <a:lnSpc>
                <a:spcPct val="145000"/>
              </a:lnSpc>
            </a:pPr>
            <a:r>
              <a:rPr sz="1000" b="0" dirty="0">
                <a:solidFill>
                  <a:srgbClr val="101418"/>
                </a:solidFill>
                <a:latin typeface="Apple SD Gothic Neo"/>
              </a:rPr>
              <a:t>• 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키워드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매칭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0건 +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위치도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0건 → </a:t>
            </a:r>
            <a:r>
              <a:rPr sz="1000" b="0" dirty="0" err="1">
                <a:solidFill>
                  <a:srgbClr val="101418"/>
                </a:solidFill>
                <a:latin typeface="Apple SD Gothic Neo"/>
              </a:rPr>
              <a:t>추천으로</a:t>
            </a:r>
            <a:r>
              <a:rPr sz="1000" b="0" dirty="0">
                <a:solidFill>
                  <a:srgbClr val="101418"/>
                </a:solidFill>
                <a:latin typeface="Apple SD Gothic Neo"/>
              </a:rPr>
              <a:t> fallback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074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8B5CF6"/>
                </a:solidFill>
                <a:latin typeface="Apple SD Gothic Neo"/>
              </a:rPr>
              <a:t>다음 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440680"/>
            <a:ext cx="52120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지도 페이지 폰 스크린샷 8장 캡처 → 슬라이드 5·6에 삽입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백엔드와 본 슬라이드 12 "합의 필요" 항목 워크숍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다음 화면 명세 진행 (홈 / 헬퍼 검색 / 회원가입 중 택)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v0.2  ·  Map 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18925</TotalTime>
  <Words>2572</Words>
  <Application>Microsoft Macintosh PowerPoint</Application>
  <PresentationFormat>와이드스크린</PresentationFormat>
  <Paragraphs>458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Apple SD Gothic Neo</vt:lpstr>
      <vt:lpstr>SF Mono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재현 박</cp:lastModifiedBy>
  <cp:revision>2</cp:revision>
  <dcterms:created xsi:type="dcterms:W3CDTF">2013-01-27T09:14:16Z</dcterms:created>
  <dcterms:modified xsi:type="dcterms:W3CDTF">2026-06-04T10:43:27Z</dcterms:modified>
  <cp:category/>
</cp:coreProperties>
</file>